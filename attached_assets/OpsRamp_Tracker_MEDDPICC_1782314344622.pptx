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6" r:id="rId3"/>
    <p:sldId id="259" r:id="rId4"/>
    <p:sldId id="258"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3F78FE-4F9B-4CCD-BB2F-5A6AB5AF0989}" v="1" dt="2026-06-23T21:02:30.6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C7A47-AE5F-5629-8368-EA2748F78D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2EC209-76E6-75A3-E5D6-850A8BFBE8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C0D382-E020-880E-2940-FBE9B3804297}"/>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5" name="Footer Placeholder 4">
            <a:extLst>
              <a:ext uri="{FF2B5EF4-FFF2-40B4-BE49-F238E27FC236}">
                <a16:creationId xmlns:a16="http://schemas.microsoft.com/office/drawing/2014/main" id="{F16689C1-1842-8876-A50E-05676399D1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48248C-F4F4-3CD0-9C24-550934B8784D}"/>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661093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42BDF-1FA8-E800-04CF-94C2C31A48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82BB8C-0732-C83A-34D9-5CB0949AC0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CB1EA9-39A4-7244-8246-C6FF44B633E0}"/>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5" name="Footer Placeholder 4">
            <a:extLst>
              <a:ext uri="{FF2B5EF4-FFF2-40B4-BE49-F238E27FC236}">
                <a16:creationId xmlns:a16="http://schemas.microsoft.com/office/drawing/2014/main" id="{C1EE9380-CF85-4BC1-8848-1BE7E9B09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FBF4BA-3B85-0443-D23E-6C4B3816D32C}"/>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3118069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1B64F-F95C-2F76-D12B-786B4D6B5B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A6A197-66EA-C157-8713-15715A7CB9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527B24-3609-E204-3409-FC4EC67678F9}"/>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5" name="Footer Placeholder 4">
            <a:extLst>
              <a:ext uri="{FF2B5EF4-FFF2-40B4-BE49-F238E27FC236}">
                <a16:creationId xmlns:a16="http://schemas.microsoft.com/office/drawing/2014/main" id="{BCF88AA1-D8A8-6560-E3D9-6E46393939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275BE6-ABEB-E081-157A-929A9B186D65}"/>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1262247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0CF77-E6A7-FDC8-26B6-6F37A15454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C0EE9E-DBCA-CE4C-2C23-A3E85392E0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3FA927-3F73-24D6-EAE2-41BFEBCA19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A42214-6D50-4662-AEFA-318D5F01920A}"/>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6" name="Footer Placeholder 5">
            <a:extLst>
              <a:ext uri="{FF2B5EF4-FFF2-40B4-BE49-F238E27FC236}">
                <a16:creationId xmlns:a16="http://schemas.microsoft.com/office/drawing/2014/main" id="{BBD2E656-E573-C253-8B06-CB787D206A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26A70B-C260-4B06-1231-5A51572A2626}"/>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609380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9DF53-3147-EBFF-3D01-90D8E12ED52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7490627-2540-A688-3D0A-EA4CE6BD44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4E91FF-4863-30C0-CAD2-4232AD5706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D820D7-12AC-538E-F30E-038CA27520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9BE6F0-F28F-7FEF-0927-996D9A486F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7F3EBD-CE35-D2F1-2E90-FF5EC616318B}"/>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8" name="Footer Placeholder 7">
            <a:extLst>
              <a:ext uri="{FF2B5EF4-FFF2-40B4-BE49-F238E27FC236}">
                <a16:creationId xmlns:a16="http://schemas.microsoft.com/office/drawing/2014/main" id="{2580655E-EA89-A5F7-0D95-6172825A11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885ABA-C228-EA8A-9FAE-544516553D56}"/>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1953471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426A1-512A-02F5-E219-AAF2CABA5A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A0378C-97F6-3B30-7E9A-47474A928112}"/>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4" name="Footer Placeholder 3">
            <a:extLst>
              <a:ext uri="{FF2B5EF4-FFF2-40B4-BE49-F238E27FC236}">
                <a16:creationId xmlns:a16="http://schemas.microsoft.com/office/drawing/2014/main" id="{A62D4239-8CF3-3D57-7CD8-EE274581E1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25DE98-1CF5-48AB-58D9-FFFFEC89843A}"/>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4199306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034234-A099-9E6C-BA82-96C5C20AAC99}"/>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3" name="Footer Placeholder 2">
            <a:extLst>
              <a:ext uri="{FF2B5EF4-FFF2-40B4-BE49-F238E27FC236}">
                <a16:creationId xmlns:a16="http://schemas.microsoft.com/office/drawing/2014/main" id="{1D431C1E-1D97-2B26-49C4-3CAE2A0B1F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23F6A6-51CB-5338-369D-797ABBF86102}"/>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2332868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9D1F7-E3B9-1A00-C33C-A6C257FF72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47127-0738-2908-5857-E7346A6D4B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C978D0-D2A4-EC85-A62B-A3A02E8243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D6D6AE-4B57-93B6-A492-FEC22A84C68E}"/>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6" name="Footer Placeholder 5">
            <a:extLst>
              <a:ext uri="{FF2B5EF4-FFF2-40B4-BE49-F238E27FC236}">
                <a16:creationId xmlns:a16="http://schemas.microsoft.com/office/drawing/2014/main" id="{E85385D6-8575-128C-2356-E67A6885F6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7163F7-CD41-3881-E702-2A063F4E99F0}"/>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1768868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A06CF-E23B-C440-9BFC-7C5288F6E9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F5B4A6-4AC1-5D8F-0A25-AD6AD51B9A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DF2F1B-8189-7C25-9066-635C23CB86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66036-2A90-D823-B6EC-BD5BC2982ACC}"/>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6" name="Footer Placeholder 5">
            <a:extLst>
              <a:ext uri="{FF2B5EF4-FFF2-40B4-BE49-F238E27FC236}">
                <a16:creationId xmlns:a16="http://schemas.microsoft.com/office/drawing/2014/main" id="{498BBFA7-4D7C-705C-000B-723C577C63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57BE58-B754-06A2-DF2B-A46060E5BB0F}"/>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544824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B7FEC-A5E0-2605-9BAA-2D01D18A6F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5EC9E4-90C8-5892-3F50-C0B2891F48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EF5A61-904B-CE57-E505-7F65BCCBE10C}"/>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5" name="Footer Placeholder 4">
            <a:extLst>
              <a:ext uri="{FF2B5EF4-FFF2-40B4-BE49-F238E27FC236}">
                <a16:creationId xmlns:a16="http://schemas.microsoft.com/office/drawing/2014/main" id="{1F05C402-744D-2997-230C-02BCAE7B1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B4B48B-C752-CA73-D481-F2A0D637F879}"/>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901870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A8508F-77B4-82B5-3B34-DDB1C84C290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800F03-77DE-883D-0D3C-58E70DB7CF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DB2014-825B-F7B1-1811-0F11C1881226}"/>
              </a:ext>
            </a:extLst>
          </p:cNvPr>
          <p:cNvSpPr>
            <a:spLocks noGrp="1"/>
          </p:cNvSpPr>
          <p:nvPr>
            <p:ph type="dt" sz="half" idx="10"/>
          </p:nvPr>
        </p:nvSpPr>
        <p:spPr/>
        <p:txBody>
          <a:bodyPr/>
          <a:lstStyle/>
          <a:p>
            <a:fld id="{1A79EBE9-B967-4777-A220-EFA71BE580CC}" type="datetimeFigureOut">
              <a:rPr lang="en-US" smtClean="0"/>
              <a:t>6/21/2026</a:t>
            </a:fld>
            <a:endParaRPr lang="en-US"/>
          </a:p>
        </p:txBody>
      </p:sp>
      <p:sp>
        <p:nvSpPr>
          <p:cNvPr id="5" name="Footer Placeholder 4">
            <a:extLst>
              <a:ext uri="{FF2B5EF4-FFF2-40B4-BE49-F238E27FC236}">
                <a16:creationId xmlns:a16="http://schemas.microsoft.com/office/drawing/2014/main" id="{1BCE22E1-663D-2357-D123-FBD9D53E1D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B3F75-B563-BF55-E850-6F502DC0D071}"/>
              </a:ext>
            </a:extLst>
          </p:cNvPr>
          <p:cNvSpPr>
            <a:spLocks noGrp="1"/>
          </p:cNvSpPr>
          <p:nvPr>
            <p:ph type="sldNum" sz="quarter" idx="12"/>
          </p:nvPr>
        </p:nvSpPr>
        <p:spPr/>
        <p:txBody>
          <a:bodyPr/>
          <a:lstStyle/>
          <a:p>
            <a:fld id="{D54FDD16-6AE3-415D-97C8-2EDEB6BE4561}" type="slidenum">
              <a:rPr lang="en-US" smtClean="0"/>
              <a:t>‹#›</a:t>
            </a:fld>
            <a:endParaRPr lang="en-US"/>
          </a:p>
        </p:txBody>
      </p:sp>
    </p:spTree>
    <p:extLst>
      <p:ext uri="{BB962C8B-B14F-4D97-AF65-F5344CB8AC3E}">
        <p14:creationId xmlns:p14="http://schemas.microsoft.com/office/powerpoint/2010/main" val="1422712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C194B7-1195-2D69-34B0-08208E3190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3305F7-2B5F-727F-1D65-942CB4F21C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70BE7E-0F35-EBBA-7529-C8105A4F77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79EBE9-B967-4777-A220-EFA71BE580CC}" type="datetimeFigureOut">
              <a:rPr lang="en-US" smtClean="0"/>
              <a:t>6/21/2026</a:t>
            </a:fld>
            <a:endParaRPr lang="en-US"/>
          </a:p>
        </p:txBody>
      </p:sp>
      <p:sp>
        <p:nvSpPr>
          <p:cNvPr id="5" name="Footer Placeholder 4">
            <a:extLst>
              <a:ext uri="{FF2B5EF4-FFF2-40B4-BE49-F238E27FC236}">
                <a16:creationId xmlns:a16="http://schemas.microsoft.com/office/drawing/2014/main" id="{12E9B557-68FF-E289-A8CA-E848E8AAB7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291E727-3C01-C8B5-81D6-D0CC04CC19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4FDD16-6AE3-415D-97C8-2EDEB6BE4561}" type="slidenum">
              <a:rPr lang="en-US" smtClean="0"/>
              <a:t>‹#›</a:t>
            </a:fld>
            <a:endParaRPr lang="en-US"/>
          </a:p>
        </p:txBody>
      </p:sp>
    </p:spTree>
    <p:extLst>
      <p:ext uri="{BB962C8B-B14F-4D97-AF65-F5344CB8AC3E}">
        <p14:creationId xmlns:p14="http://schemas.microsoft.com/office/powerpoint/2010/main" val="512356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D9228-933B-7661-7F7B-AC675EE82D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FE1C128-681B-6D0F-E3AD-0B5901DA5692}"/>
              </a:ext>
            </a:extLst>
          </p:cNvPr>
          <p:cNvSpPr txBox="1"/>
          <p:nvPr/>
        </p:nvSpPr>
        <p:spPr>
          <a:xfrm>
            <a:off x="576943" y="0"/>
            <a:ext cx="11038114" cy="5632311"/>
          </a:xfrm>
          <a:prstGeom prst="rect">
            <a:avLst/>
          </a:prstGeom>
          <a:noFill/>
        </p:spPr>
        <p:txBody>
          <a:bodyPr wrap="square" rtlCol="0">
            <a:spAutoFit/>
          </a:bodyPr>
          <a:lstStyle/>
          <a:p>
            <a:r>
              <a:rPr lang="en-US" dirty="0"/>
              <a:t>Context:</a:t>
            </a:r>
          </a:p>
          <a:p>
            <a:endParaRPr lang="en-US" dirty="0"/>
          </a:p>
          <a:p>
            <a:r>
              <a:rPr lang="en-US" dirty="0"/>
              <a:t>MAJOR APP GOALS</a:t>
            </a:r>
          </a:p>
          <a:p>
            <a:r>
              <a:rPr lang="en-US" dirty="0"/>
              <a:t>	- simple observability of pipeline and current progress toward goals based on the MEDDPICC sales framework</a:t>
            </a:r>
          </a:p>
          <a:p>
            <a:r>
              <a:rPr lang="en-US" dirty="0"/>
              <a:t>	- provide suggested actions a rep can take  based on the level of information needed in the MEDDPICC framework</a:t>
            </a:r>
          </a:p>
          <a:p>
            <a:r>
              <a:rPr lang="en-US" dirty="0"/>
              <a:t>		- provide a button to see a popup with a check list of the required information for that op</a:t>
            </a:r>
          </a:p>
          <a:p>
            <a:r>
              <a:rPr lang="en-US" dirty="0"/>
              <a:t>		- provide suggested actions based on your understanding of the MEDDPICC framework and how the data inter-relates, and a current review of 1) effective steps from other ops in the data base and 2) current review of end customer related information available on the web </a:t>
            </a:r>
          </a:p>
          <a:p>
            <a:r>
              <a:rPr lang="en-US" dirty="0"/>
              <a:t>	- weight the opportunity likelihood of closing and closing on the indicated close date base on the MEDDPICC related information or lack of information, with visual indicators on the opportunity lists  </a:t>
            </a:r>
          </a:p>
          <a:p>
            <a:endParaRPr lang="en-US" dirty="0"/>
          </a:p>
          <a:p>
            <a:r>
              <a:rPr lang="en-US" dirty="0"/>
              <a:t>	- provide end customer and MEDDPICC process related insights on</a:t>
            </a:r>
          </a:p>
          <a:p>
            <a:r>
              <a:rPr lang="en-US" dirty="0"/>
              <a:t>		- the information needed on each pullout</a:t>
            </a:r>
          </a:p>
          <a:p>
            <a:r>
              <a:rPr lang="en-US" dirty="0"/>
              <a:t>		- the overall sales progression listed on a popup when requested from the selected opportunity on the dashboard</a:t>
            </a:r>
          </a:p>
          <a:p>
            <a:endParaRPr lang="en-US" dirty="0"/>
          </a:p>
          <a:p>
            <a:r>
              <a:rPr lang="en-US" dirty="0"/>
              <a:t>	- provide quick summary of user related metrics and performance against on the dashboard</a:t>
            </a:r>
          </a:p>
        </p:txBody>
      </p:sp>
    </p:spTree>
    <p:extLst>
      <p:ext uri="{BB962C8B-B14F-4D97-AF65-F5344CB8AC3E}">
        <p14:creationId xmlns:p14="http://schemas.microsoft.com/office/powerpoint/2010/main" val="9619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084792-00BA-ED04-D402-6B2B1C276557}"/>
              </a:ext>
            </a:extLst>
          </p:cNvPr>
          <p:cNvSpPr txBox="1"/>
          <p:nvPr/>
        </p:nvSpPr>
        <p:spPr>
          <a:xfrm>
            <a:off x="576943" y="0"/>
            <a:ext cx="11038114" cy="7848302"/>
          </a:xfrm>
          <a:prstGeom prst="rect">
            <a:avLst/>
          </a:prstGeom>
          <a:noFill/>
        </p:spPr>
        <p:txBody>
          <a:bodyPr wrap="square" rtlCol="0">
            <a:spAutoFit/>
          </a:bodyPr>
          <a:lstStyle/>
          <a:p>
            <a:r>
              <a:rPr lang="en-US" dirty="0"/>
              <a:t>Context:</a:t>
            </a:r>
          </a:p>
          <a:p>
            <a:endParaRPr lang="en-US" dirty="0"/>
          </a:p>
          <a:p>
            <a:r>
              <a:rPr lang="en-US" dirty="0"/>
              <a:t>Thinking about the sales funnel information needed by various levels of people in the partner alliance sales hierarchy, you are going to create a multi user app with persistent data that allows users to input and update opportunity information using the MEDDPICC sales framework to intelligently capture and help guide users to drive and close deals.</a:t>
            </a:r>
          </a:p>
          <a:p>
            <a:endParaRPr lang="en-US" dirty="0"/>
          </a:p>
          <a:p>
            <a:r>
              <a:rPr lang="en-US" dirty="0"/>
              <a:t>From the dashboard the user should</a:t>
            </a:r>
          </a:p>
          <a:p>
            <a:r>
              <a:rPr lang="en-US" dirty="0"/>
              <a:t>-see a rollup of revenue potential by partner, by current quarter, by fiscal year with comparison to quarter and fiscal year goals</a:t>
            </a:r>
          </a:p>
          <a:p>
            <a:r>
              <a:rPr lang="en-US" dirty="0"/>
              <a:t>-provide a collapsible summary list of opportunities and initiatives</a:t>
            </a:r>
          </a:p>
          <a:p>
            <a:r>
              <a:rPr lang="en-US" dirty="0"/>
              <a:t>-buttons add edit delete partners opportunities and initiatives</a:t>
            </a:r>
          </a:p>
          <a:p>
            <a:r>
              <a:rPr lang="en-US" dirty="0"/>
              <a:t>-select a side pullout for each of the letters in MEDDPICC (listed vertically)</a:t>
            </a:r>
          </a:p>
          <a:p>
            <a:r>
              <a:rPr lang="en-US" dirty="0"/>
              <a:t>-suggest other useful items based on best practices</a:t>
            </a:r>
          </a:p>
          <a:p>
            <a:endParaRPr lang="en-US" dirty="0"/>
          </a:p>
          <a:p>
            <a:r>
              <a:rPr lang="en-US" dirty="0"/>
              <a:t>Do a deep search of the MEDDPICC sales methodology.  On each of the MEDDPICC side pull outs develop a popup form and information layout that will capture the information needed for each element.   For example, M = metrics.  When opened for the first time for the selected opportunity the popup form should be displayed for the user to begin adding the required information to describe that metric.</a:t>
            </a:r>
          </a:p>
          <a:p>
            <a:endParaRPr lang="en-US" dirty="0"/>
          </a:p>
          <a:p>
            <a:r>
              <a:rPr lang="en-US" dirty="0"/>
              <a:t>Same for each pullout.   Each entry should be editable and </a:t>
            </a:r>
            <a:r>
              <a:rPr lang="en-US" dirty="0" err="1"/>
              <a:t>deletable</a:t>
            </a:r>
            <a:r>
              <a:rPr lang="en-US" dirty="0"/>
              <a:t>.   Each element listed should have a “Customer Validated” check the user will check when the user has received verifiable validation from the customer the information is correct.</a:t>
            </a:r>
          </a:p>
          <a:p>
            <a:endParaRPr lang="en-US" dirty="0"/>
          </a:p>
          <a:p>
            <a:r>
              <a:rPr lang="en-US" dirty="0"/>
              <a:t>Each entry on each tab should somehow weighted 1) for relevance to the customer and 2) relevance to the opportunity continuing to progress and 3) relevance to the opportunity closing on the estimated date</a:t>
            </a:r>
          </a:p>
          <a:p>
            <a:endParaRPr lang="en-US" dirty="0"/>
          </a:p>
          <a:p>
            <a:endParaRPr lang="en-US" dirty="0"/>
          </a:p>
        </p:txBody>
      </p:sp>
    </p:spTree>
    <p:extLst>
      <p:ext uri="{BB962C8B-B14F-4D97-AF65-F5344CB8AC3E}">
        <p14:creationId xmlns:p14="http://schemas.microsoft.com/office/powerpoint/2010/main" val="3533434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5383B-3596-7C46-FC61-0BDD596DAD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60BAAF6-D272-7447-FF78-B2314F2DCB3B}"/>
              </a:ext>
            </a:extLst>
          </p:cNvPr>
          <p:cNvSpPr txBox="1"/>
          <p:nvPr/>
        </p:nvSpPr>
        <p:spPr>
          <a:xfrm>
            <a:off x="576943" y="0"/>
            <a:ext cx="11038114" cy="8125301"/>
          </a:xfrm>
          <a:prstGeom prst="rect">
            <a:avLst/>
          </a:prstGeom>
          <a:noFill/>
        </p:spPr>
        <p:txBody>
          <a:bodyPr wrap="square" rtlCol="0">
            <a:spAutoFit/>
          </a:bodyPr>
          <a:lstStyle/>
          <a:p>
            <a:r>
              <a:rPr lang="en-US" dirty="0"/>
              <a:t>Context:</a:t>
            </a:r>
          </a:p>
          <a:p>
            <a:endParaRPr lang="en-US" dirty="0"/>
          </a:p>
          <a:p>
            <a:r>
              <a:rPr lang="en-US" dirty="0"/>
              <a:t>-each time a new partner or opportunity is created, you should do a current deep search of that companies financial, press data </a:t>
            </a:r>
            <a:r>
              <a:rPr lang="en-US" dirty="0" err="1"/>
              <a:t>etc</a:t>
            </a:r>
            <a:r>
              <a:rPr lang="en-US" dirty="0"/>
              <a:t> to extract information relevant to each of the MEDDPICC information requirements and add that summary information to the relevant pull out.   For example developing as detailed an org chart as possible from financial filings and add the list and titles as </a:t>
            </a:r>
            <a:r>
              <a:rPr lang="en-US" dirty="0" err="1"/>
              <a:t>additonal</a:t>
            </a:r>
            <a:r>
              <a:rPr lang="en-US" dirty="0"/>
              <a:t> info on the decision, or financials results showing the prospect financial health summary in the economic buyer tab.  And so on….</a:t>
            </a:r>
          </a:p>
          <a:p>
            <a:endParaRPr lang="en-US" dirty="0"/>
          </a:p>
          <a:p>
            <a:r>
              <a:rPr lang="en-US" dirty="0"/>
              <a:t>-the user should be able to select an opportunity or partner from the dashboard which should populate the MEDDPICC pull outs for the selection</a:t>
            </a:r>
          </a:p>
          <a:p>
            <a:endParaRPr lang="en-US" dirty="0"/>
          </a:p>
          <a:p>
            <a:r>
              <a:rPr lang="en-US" dirty="0"/>
              <a:t>-each pullout should have a refresh button which instructs you to refresh data from your review.   If there is new relevant data it should be listed at the top with subsequent review data listed below in a scrollable list</a:t>
            </a:r>
          </a:p>
          <a:p>
            <a:endParaRPr lang="en-US" dirty="0"/>
          </a:p>
          <a:p>
            <a:r>
              <a:rPr lang="en-US" dirty="0"/>
              <a:t>Keeping future development phases into account to ensure extensibility </a:t>
            </a:r>
          </a:p>
          <a:p>
            <a:r>
              <a:rPr lang="en-US" dirty="0"/>
              <a:t>	- this app will eventually be a multi-user (with hierarchy of users, for example VP of sales, regional sales directors and so on each with separate metrics such as quota and geography.  </a:t>
            </a:r>
          </a:p>
          <a:p>
            <a:r>
              <a:rPr lang="en-US" dirty="0"/>
              <a:t>	-this app will eventually also be multi-tenant </a:t>
            </a:r>
          </a:p>
          <a:p>
            <a:endParaRPr lang="en-US" dirty="0"/>
          </a:p>
          <a:p>
            <a:r>
              <a:rPr lang="en-US" dirty="0"/>
              <a:t>MAJOR APP GOALS</a:t>
            </a:r>
          </a:p>
          <a:p>
            <a:r>
              <a:rPr lang="en-US" dirty="0"/>
              <a:t>	- simple observability of pipeline and current progress toward goals</a:t>
            </a:r>
          </a:p>
          <a:p>
            <a:r>
              <a:rPr lang="en-US" dirty="0"/>
              <a:t>	- help to direct actions for the sales team to take based on the level of information needed in the MEDDPICC framework</a:t>
            </a:r>
          </a:p>
          <a:p>
            <a:r>
              <a:rPr lang="en-US" dirty="0"/>
              <a:t>		- provide a button to see a popup with a check list of the required information for that op</a:t>
            </a:r>
          </a:p>
          <a:p>
            <a:r>
              <a:rPr lang="en-US" dirty="0"/>
              <a:t>		- provide suggested actions based on your understanding of the MEDDPICC framework and how the data inter-relates, and a current review of 1) effective steps from other ops in the data base and 2) current review of end customer related information available on the web, which </a:t>
            </a:r>
          </a:p>
          <a:p>
            <a:r>
              <a:rPr lang="en-US" dirty="0"/>
              <a:t>	- weight the opportunity </a:t>
            </a:r>
            <a:r>
              <a:rPr lang="en-US" dirty="0" err="1"/>
              <a:t>likeli</a:t>
            </a:r>
            <a:r>
              <a:rPr lang="en-US" dirty="0"/>
              <a:t>-hood of closing and closing on the indicated close date base on the MEDDPICC related information or lack of information with visual indicators on the opportunity lists  </a:t>
            </a:r>
          </a:p>
        </p:txBody>
      </p:sp>
    </p:spTree>
    <p:extLst>
      <p:ext uri="{BB962C8B-B14F-4D97-AF65-F5344CB8AC3E}">
        <p14:creationId xmlns:p14="http://schemas.microsoft.com/office/powerpoint/2010/main" val="1567066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FDE47-6C92-9F98-9B30-BC8E364164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9FEE227-8B47-510F-C51F-A41D0802B468}"/>
              </a:ext>
            </a:extLst>
          </p:cNvPr>
          <p:cNvSpPr/>
          <p:nvPr/>
        </p:nvSpPr>
        <p:spPr>
          <a:xfrm flipH="1">
            <a:off x="555171" y="117693"/>
            <a:ext cx="494769" cy="6740307"/>
          </a:xfrm>
          <a:prstGeom prst="rect">
            <a:avLst/>
          </a:prstGeom>
          <a:noFill/>
        </p:spPr>
        <p:txBody>
          <a:bodyPr wrap="squar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MEDDPICC</a:t>
            </a:r>
          </a:p>
        </p:txBody>
      </p:sp>
      <p:pic>
        <p:nvPicPr>
          <p:cNvPr id="9" name="Picture 8">
            <a:extLst>
              <a:ext uri="{FF2B5EF4-FFF2-40B4-BE49-F238E27FC236}">
                <a16:creationId xmlns:a16="http://schemas.microsoft.com/office/drawing/2014/main" id="{19A005DB-C77B-A1D0-9D65-4FC97F4F8AE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51051" y="1701270"/>
            <a:ext cx="9285033" cy="4893200"/>
          </a:xfrm>
          <a:prstGeom prst="rect">
            <a:avLst/>
          </a:prstGeom>
        </p:spPr>
      </p:pic>
      <p:pic>
        <p:nvPicPr>
          <p:cNvPr id="13" name="Picture 12">
            <a:extLst>
              <a:ext uri="{FF2B5EF4-FFF2-40B4-BE49-F238E27FC236}">
                <a16:creationId xmlns:a16="http://schemas.microsoft.com/office/drawing/2014/main" id="{D275CCE8-83E6-3DAC-C0A7-9E3BC54A2939}"/>
              </a:ext>
            </a:extLst>
          </p:cNvPr>
          <p:cNvPicPr>
            <a:picLocks noChangeAspect="1"/>
          </p:cNvPicPr>
          <p:nvPr/>
        </p:nvPicPr>
        <p:blipFill>
          <a:blip r:embed="rId3"/>
          <a:stretch>
            <a:fillRect/>
          </a:stretch>
        </p:blipFill>
        <p:spPr>
          <a:xfrm>
            <a:off x="1851051" y="144064"/>
            <a:ext cx="4128407" cy="1557206"/>
          </a:xfrm>
          <a:prstGeom prst="rect">
            <a:avLst/>
          </a:prstGeom>
        </p:spPr>
      </p:pic>
    </p:spTree>
    <p:extLst>
      <p:ext uri="{BB962C8B-B14F-4D97-AF65-F5344CB8AC3E}">
        <p14:creationId xmlns:p14="http://schemas.microsoft.com/office/powerpoint/2010/main" val="3652156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757949-1305-417B-BA21-DB6FD783463C}"/>
              </a:ext>
            </a:extLst>
          </p:cNvPr>
          <p:cNvSpPr txBox="1"/>
          <p:nvPr/>
        </p:nvSpPr>
        <p:spPr>
          <a:xfrm>
            <a:off x="250372" y="-2880618"/>
            <a:ext cx="11582399" cy="10618291"/>
          </a:xfrm>
          <a:prstGeom prst="rect">
            <a:avLst/>
          </a:prstGeom>
          <a:noFill/>
        </p:spPr>
        <p:txBody>
          <a:bodyPr wrap="square">
            <a:spAutoFit/>
          </a:bodyPr>
          <a:lstStyle/>
          <a:p>
            <a:r>
              <a:rPr lang="en-US" dirty="0"/>
              <a:t>The MEDDPICC sales framework is an extended version of MEDDIC, adding further elements to improve opportunity qualification, risk management, and deal closure strategies. Each element helps sales teams thoroughly assess and manage complex sales opportunities.</a:t>
            </a:r>
          </a:p>
          <a:p>
            <a:endParaRPr lang="en-US" dirty="0"/>
          </a:p>
          <a:p>
            <a:r>
              <a:rPr lang="en-US" dirty="0"/>
              <a:t>### Elements of MEDDPICC:</a:t>
            </a:r>
          </a:p>
          <a:p>
            <a:endParaRPr lang="en-US" dirty="0"/>
          </a:p>
          <a:p>
            <a:r>
              <a:rPr lang="en-US" dirty="0"/>
              <a:t>1. **Metrics (M):**  </a:t>
            </a:r>
          </a:p>
          <a:p>
            <a:r>
              <a:rPr lang="en-US" dirty="0"/>
              <a:t>   Quantifiable measures that demonstrate the value or impact of your solution to the customer.  </a:t>
            </a:r>
          </a:p>
          <a:p>
            <a:r>
              <a:rPr lang="en-US" dirty="0"/>
              <a:t>   *Example:* Cost savings, increased revenue, efficiency gains.</a:t>
            </a:r>
          </a:p>
          <a:p>
            <a:endParaRPr lang="en-US" dirty="0"/>
          </a:p>
          <a:p>
            <a:r>
              <a:rPr lang="en-US" dirty="0"/>
              <a:t>2. **Economic Buyer (E):**  </a:t>
            </a:r>
          </a:p>
          <a:p>
            <a:r>
              <a:rPr lang="en-US" dirty="0"/>
              <a:t>   The individual with the authority and budget control to make the purchasing decision.  </a:t>
            </a:r>
          </a:p>
          <a:p>
            <a:r>
              <a:rPr lang="en-US" dirty="0"/>
              <a:t>   *Focus:* Identifying and engaging this person early.</a:t>
            </a:r>
          </a:p>
          <a:p>
            <a:endParaRPr lang="en-US" dirty="0"/>
          </a:p>
          <a:p>
            <a:r>
              <a:rPr lang="en-US" dirty="0"/>
              <a:t>3. **Decision Criteria (D):**  </a:t>
            </a:r>
          </a:p>
          <a:p>
            <a:r>
              <a:rPr lang="en-US" dirty="0"/>
              <a:t>   The specific standards, features, or requirements the customer uses to evaluate solutions.  </a:t>
            </a:r>
          </a:p>
          <a:p>
            <a:r>
              <a:rPr lang="en-US" dirty="0"/>
              <a:t>   *Purpose:* To ensure your solution aligns with these criteria.</a:t>
            </a:r>
          </a:p>
          <a:p>
            <a:endParaRPr lang="en-US" dirty="0"/>
          </a:p>
          <a:p>
            <a:r>
              <a:rPr lang="en-US" dirty="0"/>
              <a:t>4. **Decision Process (D):**  </a:t>
            </a:r>
          </a:p>
          <a:p>
            <a:r>
              <a:rPr lang="en-US" dirty="0"/>
              <a:t>   The steps, stages, and timeline involved in making the purchase decision.  </a:t>
            </a:r>
          </a:p>
          <a:p>
            <a:r>
              <a:rPr lang="en-US" dirty="0"/>
              <a:t>   *Goal:* To understand how and when the decision will be made and by whom.</a:t>
            </a:r>
          </a:p>
          <a:p>
            <a:endParaRPr lang="en-US" dirty="0"/>
          </a:p>
          <a:p>
            <a:r>
              <a:rPr lang="en-US" dirty="0"/>
              <a:t>5. **Paper Process (P):**  </a:t>
            </a:r>
          </a:p>
          <a:p>
            <a:r>
              <a:rPr lang="en-US" dirty="0"/>
              <a:t>   The administrative and contractual steps needed to finalize the deal, including approvals, legal review, and paperwork.  </a:t>
            </a:r>
          </a:p>
          <a:p>
            <a:r>
              <a:rPr lang="en-US" dirty="0"/>
              <a:t>   *Focus:* Managing and streamlining contract and procurement processes.</a:t>
            </a:r>
          </a:p>
          <a:p>
            <a:endParaRPr lang="en-US" dirty="0"/>
          </a:p>
          <a:p>
            <a:r>
              <a:rPr lang="en-US" dirty="0"/>
              <a:t>6. **Identify Pain (I):**  </a:t>
            </a:r>
          </a:p>
          <a:p>
            <a:r>
              <a:rPr lang="en-US" dirty="0"/>
              <a:t>   The specific problems or challenges the customer seeks to resolve.  </a:t>
            </a:r>
          </a:p>
          <a:p>
            <a:r>
              <a:rPr lang="en-US" dirty="0"/>
              <a:t>   *Purpose:* To position your solution as the remedy for their pain points.</a:t>
            </a:r>
          </a:p>
          <a:p>
            <a:endParaRPr lang="en-US" dirty="0"/>
          </a:p>
          <a:p>
            <a:r>
              <a:rPr lang="en-US" dirty="0"/>
              <a:t>7. **Champion (C):**  </a:t>
            </a:r>
          </a:p>
          <a:p>
            <a:r>
              <a:rPr lang="en-US" dirty="0"/>
              <a:t>   An internal advocate within the customer’s organization who supports and promotes your solution.  </a:t>
            </a:r>
          </a:p>
          <a:p>
            <a:r>
              <a:rPr lang="en-US" dirty="0"/>
              <a:t>   *Role:* To influence decision-makers and facilitate the sale.</a:t>
            </a:r>
          </a:p>
          <a:p>
            <a:endParaRPr lang="en-US" dirty="0"/>
          </a:p>
          <a:p>
            <a:r>
              <a:rPr lang="en-US" dirty="0"/>
              <a:t>8. **Competition (C):**  </a:t>
            </a:r>
          </a:p>
          <a:p>
            <a:r>
              <a:rPr lang="en-US" dirty="0"/>
              <a:t>   Other vendors or solutions competing for the customer’s business.  </a:t>
            </a:r>
          </a:p>
          <a:p>
            <a:r>
              <a:rPr lang="en-US" dirty="0"/>
              <a:t>   *Use:* To understand your competitive position and differentiate your offering.</a:t>
            </a:r>
          </a:p>
        </p:txBody>
      </p:sp>
    </p:spTree>
    <p:extLst>
      <p:ext uri="{BB962C8B-B14F-4D97-AF65-F5344CB8AC3E}">
        <p14:creationId xmlns:p14="http://schemas.microsoft.com/office/powerpoint/2010/main" val="428001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1119</TotalTime>
  <Words>1183</Words>
  <Application>Microsoft Office PowerPoint</Application>
  <PresentationFormat>Widescreen</PresentationFormat>
  <Paragraphs>84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Husslage, Martin</dc:creator>
  <cp:lastModifiedBy>Husslage, Martin</cp:lastModifiedBy>
  <cp:revision>2</cp:revision>
  <dcterms:created xsi:type="dcterms:W3CDTF">2026-06-23T20:39:14Z</dcterms:created>
  <dcterms:modified xsi:type="dcterms:W3CDTF">2026-06-24T15:18:33Z</dcterms:modified>
</cp:coreProperties>
</file>